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52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9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6491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Converted from the user-provided PDF apresentacao_sistema_produtos.pdf.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Converted from the user-provided PDF apresentacao_sistema_produtos.pdf.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Converted from the user-provided PDF apresentacao_sistema_produtos.pdf.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Converted from the user-provided PDF apresentacao_sistema_produtos.pdf.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Converted from the user-provided PDF apresentacao_sistema_produtos.pdf.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Converted from the user-provided PDF apresentacao_sistema_produtos.pdf.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Converted from the user-provided PDF apresentacao_sistema_produtos.pdf.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Converted from the user-provided PDF apresentacao_sistema_produtos.pdf.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Converted from the user-provided PDF apresentacao_sistema_produtos.pdf.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Converted from the user-provided PDF apresentacao_sistema_produtos.pdf.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Converted from the user-provided PDF apresentacao_sistema_produtos.pdf.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_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FUNDAMENTOS DE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Sistema de Gestão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de Produtos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56692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B5CAD4"/>
                </a:solidFill>
                <a:latin typeface="Arial"/>
              </a:rPr>
              <a:t>Como o </a:t>
            </a:r>
            <a:r>
              <a:rPr sz="1400" b="0" i="0" dirty="0" err="1">
                <a:solidFill>
                  <a:srgbClr val="B5CAD4"/>
                </a:solidFill>
                <a:latin typeface="Arial"/>
              </a:rPr>
              <a:t>código</a:t>
            </a:r>
            <a:r>
              <a:rPr sz="1400" b="0" i="0" dirty="0">
                <a:solidFill>
                  <a:srgbClr val="B5CAD4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B5CAD4"/>
                </a:solidFill>
                <a:latin typeface="Arial"/>
              </a:rPr>
              <a:t>foi</a:t>
            </a:r>
            <a:r>
              <a:rPr sz="1400" b="0" i="0" dirty="0">
                <a:solidFill>
                  <a:srgbClr val="B5CAD4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B5CAD4"/>
                </a:solidFill>
                <a:latin typeface="Arial"/>
              </a:rPr>
              <a:t>organizado</a:t>
            </a:r>
            <a:r>
              <a:rPr sz="1400" b="0" i="0" dirty="0">
                <a:solidFill>
                  <a:srgbClr val="B5CAD4"/>
                </a:solidFill>
                <a:latin typeface="Arial"/>
              </a:rPr>
              <a:t>, quais </a:t>
            </a:r>
            <a:r>
              <a:rPr sz="1400" b="0" i="0" dirty="0" err="1">
                <a:solidFill>
                  <a:srgbClr val="B5CAD4"/>
                </a:solidFill>
                <a:latin typeface="Arial"/>
              </a:rPr>
              <a:t>decisões</a:t>
            </a:r>
            <a:endParaRPr sz="1400" b="0" i="0" dirty="0">
              <a:solidFill>
                <a:srgbClr val="B5CAD4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B5CAD4"/>
                </a:solidFill>
                <a:latin typeface="Arial"/>
              </a:rPr>
              <a:t>sustentam</a:t>
            </a:r>
            <a:r>
              <a:rPr sz="1400" b="0" i="0" dirty="0">
                <a:solidFill>
                  <a:srgbClr val="B5CAD4"/>
                </a:solidFill>
                <a:latin typeface="Arial"/>
              </a:rPr>
              <a:t> a </a:t>
            </a:r>
            <a:r>
              <a:rPr sz="1400" b="0" i="0" dirty="0" err="1">
                <a:solidFill>
                  <a:srgbClr val="B5CAD4"/>
                </a:solidFill>
                <a:latin typeface="Arial"/>
              </a:rPr>
              <a:t>solução</a:t>
            </a:r>
            <a:r>
              <a:rPr sz="1400" b="0" i="0" dirty="0">
                <a:solidFill>
                  <a:srgbClr val="B5CAD4"/>
                </a:solidFill>
                <a:latin typeface="Arial"/>
              </a:rPr>
              <a:t> e </a:t>
            </a:r>
            <a:r>
              <a:rPr sz="1400" b="0" i="0" dirty="0" err="1">
                <a:solidFill>
                  <a:srgbClr val="B5CAD4"/>
                </a:solidFill>
                <a:latin typeface="Arial"/>
              </a:rPr>
              <a:t>onde</a:t>
            </a:r>
            <a:r>
              <a:rPr sz="1400" b="0" i="0" dirty="0">
                <a:solidFill>
                  <a:srgbClr val="B5CAD4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B5CAD4"/>
                </a:solidFill>
                <a:latin typeface="Arial"/>
              </a:rPr>
              <a:t>ela</a:t>
            </a:r>
            <a:r>
              <a:rPr sz="1400" b="0" i="0" dirty="0">
                <a:solidFill>
                  <a:srgbClr val="B5CAD4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B5CAD4"/>
                </a:solidFill>
                <a:latin typeface="Arial"/>
              </a:rPr>
              <a:t>pode</a:t>
            </a:r>
            <a:r>
              <a:rPr sz="1400" b="0" i="0" dirty="0">
                <a:solidFill>
                  <a:srgbClr val="B5CAD4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B5CAD4"/>
                </a:solidFill>
                <a:latin typeface="Arial"/>
              </a:rPr>
              <a:t>evoluir</a:t>
            </a:r>
            <a:r>
              <a:rPr sz="1400" b="0" i="0" dirty="0">
                <a:solidFill>
                  <a:srgbClr val="B5CAD4"/>
                </a:solidFill>
                <a:latin typeface="Arial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10195560" y="548640"/>
            <a:ext cx="932688" cy="932688"/>
          </a:xfrm>
          <a:prstGeom prst="ellipse">
            <a:avLst/>
          </a:prstGeom>
          <a:solidFill>
            <a:srgbClr val="DD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76688" y="1161288"/>
            <a:ext cx="329184" cy="329184"/>
          </a:xfrm>
          <a:prstGeom prst="ellipse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9808" y="5468112"/>
            <a:ext cx="868680" cy="274320"/>
          </a:xfrm>
          <a:prstGeom prst="roundRect">
            <a:avLst>
              <a:gd name="adj" fmla="val 8000"/>
            </a:avLst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PYTHON 3.11+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55648" y="5468112"/>
            <a:ext cx="658368" cy="274320"/>
          </a:xfrm>
          <a:prstGeom prst="roundRect">
            <a:avLst>
              <a:gd name="adj" fmla="val 8000"/>
            </a:avLst>
          </a:prstGeom>
          <a:solidFill>
            <a:srgbClr val="137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CLI +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961888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5CAD4"/>
                </a:solidFill>
                <a:latin typeface="Arial"/>
              </a:rPr>
              <a:t>Apresentação do projeto  •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PARTICIPANTES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9584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5CAD4"/>
                </a:solidFill>
                <a:latin typeface="Arial"/>
              </a:rPr>
              <a:t>Carla Nascimento  •  Cristina Camacho  •  Allana Chaves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84048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F95A5"/>
                </a:solidFill>
                <a:latin typeface="Arial"/>
              </a:rPr>
              <a:t>01  • 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109728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F47"/>
                </a:solidFill>
                <a:latin typeface="Arial"/>
              </a:rPr>
              <a:t>O problema que o sistema resolve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95A5"/>
                </a:solidFill>
                <a:latin typeface="Arial"/>
              </a:rPr>
              <a:t>Uma aplicação de terminal para manter um catálogo pequeno, local e persistente.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46520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F95A5"/>
                </a:solidFill>
                <a:latin typeface="Arial"/>
              </a:rPr>
              <a:t>FUNDAMENTOS DE PYTHON  •  02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2404872"/>
            <a:ext cx="109728" cy="109728"/>
          </a:xfrm>
          <a:prstGeom prst="ellipse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3247"/>
                </a:solidFill>
                <a:latin typeface="Arial"/>
              </a:rPr>
              <a:t>Autenticar o operador antes de liberar o acesso.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980944"/>
            <a:ext cx="109728" cy="109728"/>
          </a:xfrm>
          <a:prstGeom prst="ellipse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907792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3247"/>
                </a:solidFill>
                <a:latin typeface="Arial"/>
              </a:rPr>
              <a:t>Cadastrar produtos com identificação, preço, quantidade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3247"/>
                </a:solidFill>
                <a:latin typeface="Arial"/>
              </a:rPr>
              <a:t>e categoria.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66160"/>
            <a:ext cx="109728" cy="109728"/>
          </a:xfrm>
          <a:prstGeom prst="ellipse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493008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3247"/>
                </a:solidFill>
                <a:latin typeface="Arial"/>
              </a:rPr>
              <a:t>Consultar, alterar parcialmente e remover registros.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169664"/>
            <a:ext cx="109728" cy="109728"/>
          </a:xfrm>
          <a:prstGeom prst="ellipse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096512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3247"/>
                </a:solidFill>
                <a:latin typeface="Arial"/>
              </a:rPr>
              <a:t>Manter os dados entre execuções usando um arquivo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3247"/>
                </a:solidFill>
                <a:latin typeface="Arial"/>
              </a:rPr>
              <a:t>CSV.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67728" y="2331720"/>
            <a:ext cx="4370832" cy="2395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67728" y="2331720"/>
            <a:ext cx="4370832" cy="45719"/>
          </a:xfrm>
          <a:prstGeom prst="rect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0" y="2532888"/>
            <a:ext cx="404164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F47"/>
                </a:solidFill>
                <a:latin typeface="Arial"/>
              </a:rPr>
              <a:t>Escopo escolhido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898648"/>
            <a:ext cx="4041648" cy="17007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247"/>
                </a:solidFill>
                <a:latin typeface="Arial"/>
              </a:rPr>
              <a:t>Uma solução simples e didática: poucos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247"/>
                </a:solidFill>
                <a:latin typeface="Arial"/>
              </a:rPr>
              <a:t>módulos, biblioteca padrão 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247"/>
                </a:solidFill>
                <a:latin typeface="Arial"/>
              </a:rPr>
              <a:t>armazenamento sem banco de dados.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67728" y="5074920"/>
            <a:ext cx="437083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967728" y="5074920"/>
            <a:ext cx="4370832" cy="45719"/>
          </a:xfrm>
          <a:prstGeom prst="rect">
            <a:avLst/>
          </a:prstGeom>
          <a:solidFill>
            <a:srgbClr val="137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0" y="5276088"/>
            <a:ext cx="404164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F47"/>
                </a:solidFill>
                <a:latin typeface="Arial"/>
              </a:rPr>
              <a:t>Entrada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5641848"/>
            <a:ext cx="4041648" cy="3566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3247"/>
                </a:solidFill>
                <a:latin typeface="Arial"/>
              </a:rPr>
              <a:t>python main.py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84048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F95A5"/>
                </a:solidFill>
                <a:latin typeface="Arial"/>
              </a:rPr>
              <a:t>02  •  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109728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F47"/>
                </a:solidFill>
                <a:latin typeface="Arial"/>
              </a:rPr>
              <a:t>Cada módulo tem uma responsabilidade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95A5"/>
                </a:solidFill>
                <a:latin typeface="Arial"/>
              </a:rPr>
              <a:t>A separação reduz acoplamento e torna o fluxo mais fácil de entender e testar.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46520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F95A5"/>
                </a:solidFill>
                <a:latin typeface="Arial"/>
              </a:rPr>
              <a:t>FUNDAMENTOS DE PYTHON  • 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700784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59" y="2660904"/>
            <a:ext cx="146304" cy="146304"/>
          </a:xfrm>
          <a:prstGeom prst="ellipse">
            <a:avLst/>
          </a:prstGeom>
          <a:solidFill>
            <a:srgbClr val="137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61518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2F47"/>
                </a:solidFill>
                <a:latin typeface="Arial"/>
              </a:rPr>
              <a:t>main.py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999232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F95A5"/>
                </a:solidFill>
                <a:latin typeface="Arial"/>
              </a:rPr>
              <a:t>inicia o programa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39" y="2752344"/>
            <a:ext cx="429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625A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352" y="2487168"/>
            <a:ext cx="1700784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980944" y="2660904"/>
            <a:ext cx="146304" cy="146304"/>
          </a:xfrm>
          <a:prstGeom prst="ellipse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9544" y="261518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2F47"/>
                </a:solidFill>
                <a:latin typeface="Arial"/>
              </a:rPr>
              <a:t>login.py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2999232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F95A5"/>
                </a:solidFill>
                <a:latin typeface="Arial"/>
              </a:rPr>
              <a:t>autentica o usuário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752344"/>
            <a:ext cx="429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625A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65192" y="2487168"/>
            <a:ext cx="1700784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129783" y="2660904"/>
            <a:ext cx="146304" cy="146304"/>
          </a:xfrm>
          <a:prstGeom prst="ellipse">
            <a:avLst/>
          </a:prstGeom>
          <a:solidFill>
            <a:srgbClr val="137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58383" y="261518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2F47"/>
                </a:solidFill>
                <a:latin typeface="Arial"/>
              </a:rPr>
              <a:t>menu.py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9783" y="2999232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F95A5"/>
                </a:solidFill>
                <a:latin typeface="Arial"/>
              </a:rPr>
              <a:t>coordena escolhas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4264" y="2752344"/>
            <a:ext cx="429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625A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14032" y="2487168"/>
            <a:ext cx="1700784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278624" y="2660904"/>
            <a:ext cx="146304" cy="146304"/>
          </a:xfrm>
          <a:prstGeom prst="ellipse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07224" y="261518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2F47"/>
                </a:solidFill>
                <a:latin typeface="Arial"/>
              </a:rPr>
              <a:t>produto_service.py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8624" y="2999232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F95A5"/>
                </a:solidFill>
                <a:latin typeface="Arial"/>
              </a:rPr>
              <a:t>aplica operações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752344"/>
            <a:ext cx="429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625A"/>
                </a:solidFill>
                <a:latin typeface="Arial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62872" y="2487168"/>
            <a:ext cx="1700784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427464" y="2660904"/>
            <a:ext cx="146304" cy="146304"/>
          </a:xfrm>
          <a:prstGeom prst="ellipse">
            <a:avLst/>
          </a:prstGeom>
          <a:solidFill>
            <a:srgbClr val="137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56064" y="261518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2F47"/>
                </a:solidFill>
                <a:latin typeface="Arial"/>
              </a:rPr>
              <a:t>produto_repository.py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27464" y="2999232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F95A5"/>
                </a:solidFill>
                <a:latin typeface="Arial"/>
              </a:rPr>
              <a:t>persiste no CSV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187952"/>
            <a:ext cx="97840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102F47"/>
                </a:solidFill>
                <a:latin typeface="Arial"/>
              </a:rPr>
              <a:t>A </a:t>
            </a:r>
            <a:r>
              <a:rPr sz="1600" b="0" i="0" dirty="0" err="1">
                <a:solidFill>
                  <a:srgbClr val="102F47"/>
                </a:solidFill>
                <a:latin typeface="Arial"/>
              </a:rPr>
              <a:t>entidade</a:t>
            </a:r>
            <a:r>
              <a:rPr sz="1600" b="0" i="0" dirty="0">
                <a:solidFill>
                  <a:srgbClr val="102F4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02F47"/>
                </a:solidFill>
                <a:latin typeface="Arial"/>
              </a:rPr>
              <a:t>Produto</a:t>
            </a:r>
            <a:r>
              <a:rPr sz="1600" b="0" i="0" dirty="0">
                <a:solidFill>
                  <a:srgbClr val="102F4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02F47"/>
                </a:solidFill>
                <a:latin typeface="Arial"/>
              </a:rPr>
              <a:t>fica</a:t>
            </a:r>
            <a:r>
              <a:rPr sz="1600" b="0" i="0" dirty="0">
                <a:solidFill>
                  <a:srgbClr val="102F47"/>
                </a:solidFill>
                <a:latin typeface="Arial"/>
              </a:rPr>
              <a:t> no </a:t>
            </a:r>
            <a:r>
              <a:rPr sz="1600" b="0" i="0" dirty="0" err="1">
                <a:solidFill>
                  <a:srgbClr val="102F47"/>
                </a:solidFill>
                <a:latin typeface="Arial"/>
              </a:rPr>
              <a:t>centro</a:t>
            </a:r>
            <a:r>
              <a:rPr sz="1600" b="0" i="0" dirty="0">
                <a:solidFill>
                  <a:srgbClr val="102F47"/>
                </a:solidFill>
                <a:latin typeface="Arial"/>
              </a:rPr>
              <a:t>: </a:t>
            </a:r>
            <a:r>
              <a:rPr sz="1600" b="0" i="0" dirty="0" err="1">
                <a:solidFill>
                  <a:srgbClr val="102F47"/>
                </a:solidFill>
                <a:latin typeface="Arial"/>
              </a:rPr>
              <a:t>representa</a:t>
            </a:r>
            <a:r>
              <a:rPr sz="1600" b="0" i="0" dirty="0">
                <a:solidFill>
                  <a:srgbClr val="102F47"/>
                </a:solidFill>
                <a:latin typeface="Arial"/>
              </a:rPr>
              <a:t> o dado e protege </a:t>
            </a:r>
            <a:r>
              <a:rPr sz="1600" b="0" i="0" dirty="0" err="1">
                <a:solidFill>
                  <a:srgbClr val="102F47"/>
                </a:solidFill>
                <a:latin typeface="Arial"/>
              </a:rPr>
              <a:t>regras</a:t>
            </a:r>
            <a:r>
              <a:rPr sz="1600" b="0" i="0" dirty="0">
                <a:solidFill>
                  <a:srgbClr val="102F4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02F47"/>
                </a:solidFill>
                <a:latin typeface="Arial"/>
              </a:rPr>
              <a:t>como</a:t>
            </a:r>
            <a:r>
              <a:rPr sz="1600" b="0" i="0" dirty="0">
                <a:solidFill>
                  <a:srgbClr val="102F4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02F47"/>
                </a:solidFill>
                <a:latin typeface="Arial"/>
              </a:rPr>
              <a:t>categoria</a:t>
            </a:r>
            <a:r>
              <a:rPr sz="1600" b="0" i="0" dirty="0">
                <a:solidFill>
                  <a:srgbClr val="102F4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02F47"/>
                </a:solidFill>
                <a:latin typeface="Arial"/>
              </a:rPr>
              <a:t>válida</a:t>
            </a:r>
            <a:r>
              <a:rPr sz="1600" b="0" i="0" dirty="0">
                <a:solidFill>
                  <a:srgbClr val="102F47"/>
                </a:solidFill>
                <a:latin typeface="Arial"/>
              </a:rPr>
              <a:t> 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 err="1">
                <a:solidFill>
                  <a:srgbClr val="102F47"/>
                </a:solidFill>
                <a:latin typeface="Arial"/>
              </a:rPr>
              <a:t>atualização</a:t>
            </a:r>
            <a:r>
              <a:rPr sz="1600" b="0" i="0" dirty="0">
                <a:solidFill>
                  <a:srgbClr val="102F47"/>
                </a:solidFill>
                <a:latin typeface="Arial"/>
              </a:rPr>
              <a:t> de timestamps.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84048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F95A5"/>
                </a:solidFill>
                <a:latin typeface="Arial"/>
              </a:rPr>
              <a:t>03  •  EXECUÇÃO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109728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F47"/>
                </a:solidFill>
                <a:latin typeface="Arial"/>
              </a:rPr>
              <a:t>Do login à operação escolhida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95A5"/>
                </a:solidFill>
                <a:latin typeface="Arial"/>
              </a:rPr>
              <a:t>O programa permanece em um laço até o usuário escolher sair.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46520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F95A5"/>
                </a:solidFill>
                <a:latin typeface="Arial"/>
              </a:rPr>
              <a:t>FUNDAMENTOS DE PYTHON  •  04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852928"/>
            <a:ext cx="493776" cy="493776"/>
          </a:xfrm>
          <a:prstGeom prst="ellipse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529584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F47"/>
                </a:solidFill>
                <a:latin typeface="Arial"/>
              </a:rPr>
              <a:t>login_app()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005072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F95A5"/>
                </a:solidFill>
                <a:latin typeface="Arial"/>
              </a:rPr>
              <a:t>até 3 tentativas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5880" y="3090672"/>
            <a:ext cx="1271016" cy="18288"/>
          </a:xfrm>
          <a:prstGeom prst="rect">
            <a:avLst/>
          </a:prstGeom>
          <a:solidFill>
            <a:srgbClr val="CF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953512" y="2852928"/>
            <a:ext cx="493776" cy="493776"/>
          </a:xfrm>
          <a:prstGeom prst="ellipse">
            <a:avLst/>
          </a:prstGeom>
          <a:solidFill>
            <a:srgbClr val="137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3529584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F47"/>
                </a:solidFill>
                <a:latin typeface="Arial"/>
              </a:rPr>
              <a:t>mostrar_menu()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4005072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F95A5"/>
                </a:solidFill>
                <a:latin typeface="Arial"/>
              </a:rPr>
              <a:t>exibe CRUD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9584" y="3090672"/>
            <a:ext cx="1271016" cy="18288"/>
          </a:xfrm>
          <a:prstGeom prst="rect">
            <a:avLst/>
          </a:prstGeom>
          <a:solidFill>
            <a:srgbClr val="CF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148072" y="2852928"/>
            <a:ext cx="493776" cy="493776"/>
          </a:xfrm>
          <a:prstGeom prst="ellipse">
            <a:avLst/>
          </a:prstGeom>
          <a:solidFill>
            <a:srgbClr val="137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3529584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F47"/>
                </a:solidFill>
                <a:latin typeface="Arial"/>
              </a:rPr>
              <a:t>selecionar_opcao()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4005072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F95A5"/>
                </a:solidFill>
                <a:latin typeface="Arial"/>
              </a:rPr>
              <a:t>lê entrada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24144" y="3090672"/>
            <a:ext cx="1271016" cy="18288"/>
          </a:xfrm>
          <a:prstGeom prst="rect">
            <a:avLst/>
          </a:prstGeom>
          <a:solidFill>
            <a:srgbClr val="CF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42631" y="2852928"/>
            <a:ext cx="493776" cy="493776"/>
          </a:xfrm>
          <a:prstGeom prst="ellipse">
            <a:avLst/>
          </a:prstGeom>
          <a:solidFill>
            <a:srgbClr val="137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3529584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F47"/>
                </a:solidFill>
                <a:latin typeface="Arial"/>
              </a:rPr>
              <a:t>executar_opcao()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4005072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F95A5"/>
                </a:solidFill>
                <a:latin typeface="Arial"/>
              </a:rPr>
              <a:t>chama serviço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18704" y="3090672"/>
            <a:ext cx="1271015" cy="18288"/>
          </a:xfrm>
          <a:prstGeom prst="rect">
            <a:avLst/>
          </a:prstGeom>
          <a:solidFill>
            <a:srgbClr val="CF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537192" y="2852928"/>
            <a:ext cx="493776" cy="493776"/>
          </a:xfrm>
          <a:prstGeom prst="ellipse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5752" y="3529584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F47"/>
                </a:solidFill>
                <a:latin typeface="Arial"/>
              </a:rPr>
              <a:t>repository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5752" y="4005072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F95A5"/>
                </a:solidFill>
                <a:latin typeface="Arial"/>
              </a:rPr>
              <a:t>lê ou grava CSV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63240" y="4370832"/>
            <a:ext cx="5486400" cy="1225296"/>
          </a:xfrm>
          <a:prstGeom prst="roundRect">
            <a:avLst>
              <a:gd name="adj" fmla="val 8000"/>
            </a:avLst>
          </a:prstGeom>
          <a:solidFill>
            <a:srgbClr val="102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5CAD4"/>
                </a:solidFill>
                <a:latin typeface="Courier New"/>
              </a:rPr>
              <a:t>while True: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5CAD4"/>
                </a:solidFill>
                <a:latin typeface="Courier New"/>
              </a:rPr>
              <a:t>    mostrar_menu()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5CAD4"/>
                </a:solidFill>
                <a:latin typeface="Courier New"/>
              </a:rPr>
              <a:t>    opcao = selecionar_opcao()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5CAD4"/>
                </a:solidFill>
                <a:latin typeface="Courier New"/>
              </a:rPr>
              <a:t>    if not executar_opcao(opcao):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5CAD4"/>
                </a:solidFill>
                <a:latin typeface="Courier New"/>
              </a:rPr>
              <a:t>        break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84048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F95A5"/>
                </a:solidFill>
                <a:latin typeface="Arial"/>
              </a:rPr>
              <a:t>04  • 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109728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F47"/>
                </a:solidFill>
                <a:latin typeface="Arial"/>
              </a:rPr>
              <a:t>Produto é a unidade de negócio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95A5"/>
                </a:solidFill>
                <a:latin typeface="Arial"/>
              </a:rPr>
              <a:t>A classe usa dataclass para concentrar dados e comportamento relacionado ao produto.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46520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F95A5"/>
                </a:solidFill>
                <a:latin typeface="Arial"/>
              </a:rPr>
              <a:t>FUNDAMENTOS DE PYTHON  • 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240280"/>
            <a:ext cx="4873752" cy="3063240"/>
          </a:xfrm>
          <a:prstGeom prst="roundRect">
            <a:avLst>
              <a:gd name="adj" fmla="val 8000"/>
            </a:avLst>
          </a:prstGeom>
          <a:solidFill>
            <a:srgbClr val="102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B5CAD4"/>
                </a:solidFill>
                <a:latin typeface="Courier New"/>
              </a:rPr>
              <a:t>@dataclass(slots=True)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B5CAD4"/>
                </a:solidFill>
                <a:latin typeface="Courier New"/>
              </a:rPr>
              <a:t>class Produto: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B5CAD4"/>
                </a:solidFill>
                <a:latin typeface="Courier New"/>
              </a:rPr>
              <a:t>    id: int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B5CAD4"/>
                </a:solidFill>
                <a:latin typeface="Courier New"/>
              </a:rPr>
              <a:t>    nome: str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B5CAD4"/>
                </a:solidFill>
                <a:latin typeface="Courier New"/>
              </a:rPr>
              <a:t>    quantidade: int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B5CAD4"/>
                </a:solidFill>
                <a:latin typeface="Courier New"/>
              </a:rPr>
              <a:t>    preco: Decimal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B5CAD4"/>
                </a:solidFill>
                <a:latin typeface="Courier New"/>
              </a:rPr>
              <a:t>    categoria: str | Categoria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B5CAD4"/>
                </a:solidFill>
                <a:latin typeface="Courier New"/>
              </a:rPr>
              <a:t>    data_criacao: datetime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B5CAD4"/>
                </a:solidFill>
                <a:latin typeface="Courier New"/>
              </a:rPr>
              <a:t>    data_ultima_alteracao: datetime | None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70448" y="2240280"/>
            <a:ext cx="2267712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70448" y="2240280"/>
            <a:ext cx="2267712" cy="45719"/>
          </a:xfrm>
          <a:prstGeom prst="rect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0" y="2441448"/>
            <a:ext cx="19385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F47"/>
                </a:solidFill>
                <a:latin typeface="Arial"/>
              </a:rPr>
              <a:t>Decimal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807208"/>
            <a:ext cx="1938528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163247"/>
                </a:solidFill>
                <a:latin typeface="Arial"/>
              </a:rPr>
              <a:t>Evita tratar preço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163247"/>
                </a:solidFill>
                <a:latin typeface="Arial"/>
              </a:rPr>
              <a:t>como float e deixa 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163247"/>
                </a:solidFill>
                <a:latin typeface="Arial"/>
              </a:rPr>
              <a:t>representação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163247"/>
                </a:solidFill>
                <a:latin typeface="Arial"/>
              </a:rPr>
              <a:t>monetária mais exata.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2240280"/>
            <a:ext cx="2267712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02752" y="2240280"/>
            <a:ext cx="2267712" cy="45719"/>
          </a:xfrm>
          <a:prstGeom prst="rect">
            <a:avLst/>
          </a:prstGeom>
          <a:solidFill>
            <a:srgbClr val="137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67344" y="2441448"/>
            <a:ext cx="19385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F47"/>
                </a:solidFill>
                <a:latin typeface="Arial"/>
              </a:rPr>
              <a:t>Enum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344" y="2807208"/>
            <a:ext cx="1938528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163247"/>
                </a:solidFill>
                <a:latin typeface="Arial"/>
              </a:rPr>
              <a:t>Categoria.validar()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163247"/>
                </a:solidFill>
                <a:latin typeface="Arial"/>
              </a:rPr>
              <a:t>normaliza e rejeita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163247"/>
                </a:solidFill>
                <a:latin typeface="Arial"/>
              </a:rPr>
              <a:t>valores fora do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163247"/>
                </a:solidFill>
                <a:latin typeface="Arial"/>
              </a:rPr>
              <a:t>conjunto permitido.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70448" y="3913632"/>
            <a:ext cx="4700016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70448" y="3913632"/>
            <a:ext cx="4700015" cy="45719"/>
          </a:xfrm>
          <a:prstGeom prst="rect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35040" y="4114800"/>
            <a:ext cx="4370831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F47"/>
                </a:solidFill>
                <a:latin typeface="Arial"/>
              </a:rPr>
              <a:t>Atualização parcial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480560"/>
            <a:ext cx="4370831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63247"/>
                </a:solidFill>
                <a:latin typeface="Arial"/>
              </a:rPr>
              <a:t>Enter mantém o valor atual; atualizar_dados()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63247"/>
                </a:solidFill>
                <a:latin typeface="Arial"/>
              </a:rPr>
              <a:t>altera apenas os campos recebidos e marca 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63247"/>
                </a:solidFill>
                <a:latin typeface="Arial"/>
              </a:rPr>
              <a:t>última alteração.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84048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F95A5"/>
                </a:solidFill>
                <a:latin typeface="Arial"/>
              </a:rPr>
              <a:t>05  •  OPERAÇÕES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109728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F47"/>
                </a:solidFill>
                <a:latin typeface="Arial"/>
              </a:rPr>
              <a:t>CRUD com regras próximas do uso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95A5"/>
                </a:solidFill>
                <a:latin typeface="Arial"/>
              </a:rPr>
              <a:t>O módulo de serviço traduz entradas do terminal em operações sobre ProdutoRepository.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46520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F95A5"/>
                </a:solidFill>
                <a:latin typeface="Arial"/>
              </a:rPr>
              <a:t>FUNDAMENTOS DE PYTHON  •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487168"/>
            <a:ext cx="464515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2487168"/>
            <a:ext cx="4645152" cy="45719"/>
          </a:xfrm>
          <a:prstGeom prst="rect">
            <a:avLst/>
          </a:prstGeom>
          <a:solidFill>
            <a:srgbClr val="137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688336"/>
            <a:ext cx="431596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F47"/>
                </a:solidFill>
                <a:latin typeface="Arial"/>
              </a:rPr>
              <a:t>CREATE / cadastrar_produto()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054096"/>
            <a:ext cx="4315968" cy="3840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247"/>
                </a:solidFill>
                <a:latin typeface="Arial"/>
              </a:rPr>
              <a:t>Converte entradas, valida ID duplicado 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247"/>
                </a:solidFill>
                <a:latin typeface="Arial"/>
              </a:rPr>
              <a:t>salva.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61888" y="2487168"/>
            <a:ext cx="464515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61888" y="2487168"/>
            <a:ext cx="4645152" cy="45719"/>
          </a:xfrm>
          <a:prstGeom prst="rect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79" y="2688336"/>
            <a:ext cx="431596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F47"/>
                </a:solidFill>
                <a:latin typeface="Arial"/>
              </a:rPr>
              <a:t>READ / listar_produtos()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3054096"/>
            <a:ext cx="4315968" cy="3840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247"/>
                </a:solidFill>
                <a:latin typeface="Arial"/>
              </a:rPr>
              <a:t>Busca a lista e monta uma tabela textual.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005072"/>
            <a:ext cx="464515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3232" y="4005072"/>
            <a:ext cx="4645152" cy="45719"/>
          </a:xfrm>
          <a:prstGeom prst="rect">
            <a:avLst/>
          </a:prstGeom>
          <a:solidFill>
            <a:srgbClr val="137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4206240"/>
            <a:ext cx="431596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F47"/>
                </a:solidFill>
                <a:latin typeface="Arial"/>
              </a:rPr>
              <a:t>UPDATE / atualizar_produto()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572000"/>
            <a:ext cx="4315968" cy="3840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247"/>
                </a:solidFill>
                <a:latin typeface="Arial"/>
              </a:rPr>
              <a:t>Localiza por ID e permite alterar campos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247"/>
                </a:solidFill>
                <a:latin typeface="Arial"/>
              </a:rPr>
              <a:t>individualmente.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61888" y="4005072"/>
            <a:ext cx="464515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61888" y="4005072"/>
            <a:ext cx="4645152" cy="45719"/>
          </a:xfrm>
          <a:prstGeom prst="rect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79" y="4206240"/>
            <a:ext cx="431596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F47"/>
                </a:solidFill>
                <a:latin typeface="Arial"/>
              </a:rPr>
              <a:t>DELETE / remover_produto()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79" y="4572000"/>
            <a:ext cx="4315968" cy="3840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247"/>
                </a:solidFill>
                <a:latin typeface="Arial"/>
              </a:rPr>
              <a:t>Localiza, remove e persiste novamente.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532120"/>
            <a:ext cx="97840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7F95A5"/>
                </a:solidFill>
                <a:latin typeface="Arial"/>
              </a:rPr>
              <a:t>A camada recebe o repository por parâmetro; isso facilita trocar a persistência em testes ou em outra evolução futura.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84048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F95A5"/>
                </a:solidFill>
                <a:latin typeface="Arial"/>
              </a:rPr>
              <a:t>06  •  PERSISTÊNCIA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109728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F47"/>
                </a:solidFill>
                <a:latin typeface="Arial"/>
              </a:rPr>
              <a:t>O CSV funciona como uma pequena base local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95A5"/>
                </a:solidFill>
                <a:latin typeface="Arial"/>
              </a:rPr>
              <a:t>O repositório esconde detalhes de arquivo para o restante do sistema.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46520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F95A5"/>
                </a:solidFill>
                <a:latin typeface="Arial"/>
              </a:rPr>
              <a:t>FUNDAMENTOS DE PYTHON  • 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176272"/>
            <a:ext cx="4069080" cy="1115568"/>
          </a:xfrm>
          <a:prstGeom prst="roundRect">
            <a:avLst>
              <a:gd name="adj" fmla="val 8000"/>
            </a:avLst>
          </a:prstGeom>
          <a:solidFill>
            <a:srgbClr val="102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5CAD4"/>
                </a:solidFill>
                <a:latin typeface="Courier New"/>
              </a:rPr>
              <a:t>CSV   -&gt;  DictReader  -&gt;  Produto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5CAD4"/>
                </a:solidFill>
                <a:latin typeface="Courier New"/>
              </a:rPr>
              <a:t>Produto  -&gt;  DictWriter  -&gt;  CSV</a:t>
            </a:r>
          </a:p>
        </p:txBody>
      </p:sp>
      <p:sp>
        <p:nvSpPr>
          <p:cNvPr id="8" name="Oval 7"/>
          <p:cNvSpPr/>
          <p:nvPr/>
        </p:nvSpPr>
        <p:spPr>
          <a:xfrm>
            <a:off x="5285232" y="2404872"/>
            <a:ext cx="109728" cy="109728"/>
          </a:xfrm>
          <a:prstGeom prst="ellipse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41264" y="2331720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63247"/>
                </a:solidFill>
                <a:latin typeface="Arial"/>
              </a:rPr>
              <a:t>Ao iniciar, carrega registros e converte tipos: int, Decimal 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63247"/>
                </a:solidFill>
                <a:latin typeface="Arial"/>
              </a:rPr>
              <a:t>datetime.</a:t>
            </a:r>
          </a:p>
        </p:txBody>
      </p:sp>
      <p:sp>
        <p:nvSpPr>
          <p:cNvPr id="10" name="Oval 9"/>
          <p:cNvSpPr/>
          <p:nvPr/>
        </p:nvSpPr>
        <p:spPr>
          <a:xfrm>
            <a:off x="5285232" y="3108960"/>
            <a:ext cx="109728" cy="109728"/>
          </a:xfrm>
          <a:prstGeom prst="ellipse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41264" y="3035808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63247"/>
                </a:solidFill>
                <a:latin typeface="Arial"/>
              </a:rPr>
              <a:t>Ao salvar ou remover, reescreve o arquivo completo com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63247"/>
                </a:solidFill>
                <a:latin typeface="Arial"/>
              </a:rPr>
              <a:t>cabeçalho e ISO dates.</a:t>
            </a:r>
          </a:p>
        </p:txBody>
      </p:sp>
      <p:sp>
        <p:nvSpPr>
          <p:cNvPr id="12" name="Oval 11"/>
          <p:cNvSpPr/>
          <p:nvPr/>
        </p:nvSpPr>
        <p:spPr>
          <a:xfrm>
            <a:off x="5285232" y="3813048"/>
            <a:ext cx="109728" cy="109728"/>
          </a:xfrm>
          <a:prstGeom prst="ellipse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41264" y="3739896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63247"/>
                </a:solidFill>
                <a:latin typeface="Arial"/>
              </a:rPr>
              <a:t>Cria a pasta pai automaticamente quando necessário.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370832"/>
            <a:ext cx="4069080" cy="1335024"/>
          </a:xfrm>
          <a:prstGeom prst="roundRect">
            <a:avLst>
              <a:gd name="adj" fmla="val 8000"/>
            </a:avLst>
          </a:prstGeom>
          <a:solidFill>
            <a:srgbClr val="DD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976" y="4681728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F47"/>
                </a:solidFill>
                <a:latin typeface="Arial"/>
              </a:rPr>
              <a:t>Por que CSV?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5047488"/>
            <a:ext cx="361188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95A5"/>
                </a:solidFill>
                <a:latin typeface="Arial"/>
              </a:rPr>
              <a:t>Baixa complexidade, fácil inspeção manual e suficiente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95A5"/>
                </a:solidFill>
                <a:latin typeface="Arial"/>
              </a:rPr>
              <a:t>para um catálogo pequeno/local.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84048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F95A5"/>
                </a:solidFill>
                <a:latin typeface="Arial"/>
              </a:rPr>
              <a:t>07  •  EXEMPLO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109728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F47"/>
                </a:solidFill>
                <a:latin typeface="Arial"/>
              </a:rPr>
              <a:t>Uma sessão típica no terminal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95A5"/>
                </a:solidFill>
                <a:latin typeface="Arial"/>
              </a:rPr>
              <a:t>O comportamento esperado pode ser entendido acompanhando uma única jornada do usuário.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46520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F95A5"/>
                </a:solidFill>
                <a:latin typeface="Arial"/>
              </a:rPr>
              <a:t>FUNDAMENTOS DE PYTHON  •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5257800" cy="4069080"/>
          </a:xfrm>
          <a:prstGeom prst="roundRect">
            <a:avLst>
              <a:gd name="adj" fmla="val 8000"/>
            </a:avLst>
          </a:prstGeom>
          <a:solidFill>
            <a:srgbClr val="102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5CAD4"/>
                </a:solidFill>
                <a:latin typeface="Courier New"/>
              </a:rPr>
              <a:t>$ python main.py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250" b="0" i="0">
              <a:solidFill>
                <a:srgbClr val="B5CAD4"/>
              </a:solidFill>
              <a:latin typeface="Courier New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5CAD4"/>
                </a:solidFill>
                <a:latin typeface="Courier New"/>
              </a:rPr>
              <a:t>=== LOGIN ===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250" b="0" i="0">
              <a:solidFill>
                <a:srgbClr val="B5CAD4"/>
              </a:solidFill>
              <a:latin typeface="Courier New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5CAD4"/>
                </a:solidFill>
                <a:latin typeface="Courier New"/>
              </a:rPr>
              <a:t>Usuário: admin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250" b="0" i="0">
              <a:solidFill>
                <a:srgbClr val="B5CAD4"/>
              </a:solidFill>
              <a:latin typeface="Courier New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5CAD4"/>
                </a:solidFill>
                <a:latin typeface="Courier New"/>
              </a:rPr>
              <a:t>Senha: 1234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250" b="0" i="0">
              <a:solidFill>
                <a:srgbClr val="B5CAD4"/>
              </a:solidFill>
              <a:latin typeface="Courier New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5CAD4"/>
                </a:solidFill>
                <a:latin typeface="Courier New"/>
              </a:rPr>
              <a:t>Acesso liberado.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250" b="0" i="0">
              <a:solidFill>
                <a:srgbClr val="B5CAD4"/>
              </a:solidFill>
              <a:latin typeface="Courier New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5CAD4"/>
                </a:solidFill>
                <a:latin typeface="Courier New"/>
              </a:rPr>
              <a:t>1 - Cadastrar   2 - Consultar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250" b="0" i="0">
              <a:solidFill>
                <a:srgbClr val="B5CAD4"/>
              </a:solidFill>
              <a:latin typeface="Courier New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5CAD4"/>
                </a:solidFill>
                <a:latin typeface="Courier New"/>
              </a:rPr>
              <a:t>Escolha uma opção: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250" b="0" i="0">
              <a:solidFill>
                <a:srgbClr val="B5CAD4"/>
              </a:solidFill>
              <a:latin typeface="Courier New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5CAD4"/>
                </a:solidFill>
                <a:latin typeface="Courier New"/>
              </a:rPr>
              <a:t>Produto cadastrado com sucesso.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856231"/>
            <a:ext cx="3840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20840" y="1856231"/>
            <a:ext cx="3840480" cy="45719"/>
          </a:xfrm>
          <a:prstGeom prst="rect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85431" y="2057400"/>
            <a:ext cx="3511296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F47"/>
                </a:solidFill>
                <a:latin typeface="Arial"/>
              </a:rPr>
              <a:t>O que acontece por trás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5431" y="2423160"/>
            <a:ext cx="3511296" cy="7223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63247"/>
                </a:solidFill>
                <a:latin typeface="Arial"/>
              </a:rPr>
              <a:t>menu.py cria o repository; o serviço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63247"/>
                </a:solidFill>
                <a:latin typeface="Arial"/>
              </a:rPr>
              <a:t>coleta e valida; Produto representa;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63247"/>
                </a:solidFill>
                <a:latin typeface="Arial"/>
              </a:rPr>
              <a:t>repository persiste.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794760"/>
            <a:ext cx="3840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720840" y="3794760"/>
            <a:ext cx="3840480" cy="45719"/>
          </a:xfrm>
          <a:prstGeom prst="rect">
            <a:avLst/>
          </a:prstGeom>
          <a:solidFill>
            <a:srgbClr val="137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85431" y="3995928"/>
            <a:ext cx="3511296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F47"/>
                </a:solidFill>
                <a:latin typeface="Arial"/>
              </a:rPr>
              <a:t>Por que esse exemplo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1" y="4361688"/>
            <a:ext cx="3511296" cy="7223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63247"/>
                </a:solidFill>
                <a:latin typeface="Arial"/>
              </a:rPr>
              <a:t>Ele conecta as funções abstratas do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63247"/>
                </a:solidFill>
                <a:latin typeface="Arial"/>
              </a:rPr>
              <a:t>código ao resultado que o operador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63247"/>
                </a:solidFill>
                <a:latin typeface="Arial"/>
              </a:rPr>
              <a:t>vê na tela.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84048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F95A5"/>
                </a:solidFill>
                <a:latin typeface="Arial"/>
              </a:rPr>
              <a:t>08  •  RACIONAL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109728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F47"/>
                </a:solidFill>
                <a:latin typeface="Arial"/>
              </a:rPr>
              <a:t>Decisões que tornam o código compreensível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95A5"/>
                </a:solidFill>
                <a:latin typeface="Arial"/>
              </a:rPr>
              <a:t>A estrutura privilegia legibilidade e separação de responsabilidades para o tamanho do problema.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46520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F95A5"/>
                </a:solidFill>
                <a:latin typeface="Arial"/>
              </a:rPr>
              <a:t>FUNDAMENTOS DE PYTHON  •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240280"/>
            <a:ext cx="3090672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2240280"/>
            <a:ext cx="3090672" cy="45719"/>
          </a:xfrm>
          <a:prstGeom prst="rect">
            <a:avLst/>
          </a:prstGeom>
          <a:solidFill>
            <a:srgbClr val="137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441448"/>
            <a:ext cx="276148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F47"/>
                </a:solidFill>
                <a:latin typeface="Arial"/>
              </a:rPr>
              <a:t>Biblioteca padrão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807208"/>
            <a:ext cx="2761488" cy="4206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247"/>
                </a:solidFill>
                <a:latin typeface="Arial"/>
              </a:rPr>
              <a:t>Menos dependências 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247"/>
                </a:solidFill>
                <a:latin typeface="Arial"/>
              </a:rPr>
              <a:t>instalação simples.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2240280"/>
            <a:ext cx="3090672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5968" y="2240280"/>
            <a:ext cx="3090672" cy="45719"/>
          </a:xfrm>
          <a:prstGeom prst="rect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59" y="2441448"/>
            <a:ext cx="276148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F47"/>
                </a:solidFill>
                <a:latin typeface="Arial"/>
              </a:rPr>
              <a:t>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807208"/>
            <a:ext cx="2761488" cy="4206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247"/>
                </a:solidFill>
                <a:latin typeface="Arial"/>
              </a:rPr>
              <a:t>Isola leitura e escrita do CSV.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18704" y="2240280"/>
            <a:ext cx="3090672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18704" y="2240280"/>
            <a:ext cx="3090671" cy="45719"/>
          </a:xfrm>
          <a:prstGeom prst="rect">
            <a:avLst/>
          </a:prstGeom>
          <a:solidFill>
            <a:srgbClr val="137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83296" y="2441448"/>
            <a:ext cx="276148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F47"/>
                </a:solidFill>
                <a:latin typeface="Arial"/>
              </a:rPr>
              <a:t>Dataclass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807208"/>
            <a:ext cx="2761488" cy="4206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247"/>
                </a:solidFill>
                <a:latin typeface="Arial"/>
              </a:rPr>
              <a:t>Declara o modelo com pouco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247"/>
                </a:solidFill>
                <a:latin typeface="Arial"/>
              </a:rPr>
              <a:t>código repetido.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794760"/>
            <a:ext cx="3090672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3232" y="3794760"/>
            <a:ext cx="3090672" cy="45719"/>
          </a:xfrm>
          <a:prstGeom prst="rect">
            <a:avLst/>
          </a:prstGeom>
          <a:solidFill>
            <a:srgbClr val="137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" y="3995928"/>
            <a:ext cx="276148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F47"/>
                </a:solidFill>
                <a:latin typeface="Arial"/>
              </a:rPr>
              <a:t>Enum de categorias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4361688"/>
            <a:ext cx="2761488" cy="4206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247"/>
                </a:solidFill>
                <a:latin typeface="Arial"/>
              </a:rPr>
              <a:t>Transforma valores livres 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247"/>
                </a:solidFill>
                <a:latin typeface="Arial"/>
              </a:rPr>
              <a:t>conjunto conhecido.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3794760"/>
            <a:ext cx="3090672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15968" y="3794760"/>
            <a:ext cx="3090672" cy="45719"/>
          </a:xfrm>
          <a:prstGeom prst="rect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0559" y="3995928"/>
            <a:ext cx="276148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F47"/>
                </a:solidFill>
                <a:latin typeface="Arial"/>
              </a:rPr>
              <a:t>Injeção do repository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4361688"/>
            <a:ext cx="2761488" cy="4206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247"/>
                </a:solidFill>
                <a:latin typeface="Arial"/>
              </a:rPr>
              <a:t>Permite substituir 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247"/>
                </a:solidFill>
                <a:latin typeface="Arial"/>
              </a:rPr>
              <a:t>persistência com baixo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247"/>
                </a:solidFill>
                <a:latin typeface="Arial"/>
              </a:rPr>
              <a:t>impacto.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18704" y="3794760"/>
            <a:ext cx="3090672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918704" y="3794760"/>
            <a:ext cx="3090671" cy="45719"/>
          </a:xfrm>
          <a:prstGeom prst="rect">
            <a:avLst/>
          </a:prstGeom>
          <a:solidFill>
            <a:srgbClr val="137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83296" y="3995928"/>
            <a:ext cx="276148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F47"/>
                </a:solidFill>
                <a:latin typeface="Arial"/>
              </a:rPr>
              <a:t>Laço principal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4361688"/>
            <a:ext cx="2761488" cy="4206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247"/>
                </a:solidFill>
                <a:latin typeface="Arial"/>
              </a:rPr>
              <a:t>Mantém a interação ativa até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247"/>
                </a:solidFill>
                <a:latin typeface="Arial"/>
              </a:rPr>
              <a:t>a opção 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84048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F95A5"/>
                </a:solidFill>
                <a:latin typeface="Arial"/>
              </a:rPr>
              <a:t>09  •  EVOLUÇÃO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109728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F47"/>
                </a:solidFill>
                <a:latin typeface="Arial"/>
              </a:rPr>
              <a:t>O que eu melhoraria em uma próxima versão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95A5"/>
                </a:solidFill>
                <a:latin typeface="Arial"/>
              </a:rPr>
              <a:t>O projeto cumpre o escopo didático; estes são os próximos ganhos de robustez.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46520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F95A5"/>
                </a:solidFill>
                <a:latin typeface="Arial"/>
              </a:rPr>
              <a:t>FUNDAMENTOS DE PYTHON  •  10</a:t>
            </a:r>
          </a:p>
        </p:txBody>
      </p:sp>
      <p:sp>
        <p:nvSpPr>
          <p:cNvPr id="7" name="Oval 6"/>
          <p:cNvSpPr/>
          <p:nvPr/>
        </p:nvSpPr>
        <p:spPr>
          <a:xfrm>
            <a:off x="758952" y="2313432"/>
            <a:ext cx="109728" cy="109728"/>
          </a:xfrm>
          <a:prstGeom prst="ellipse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2402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02F47"/>
                </a:solidFill>
                <a:latin typeface="Arial"/>
              </a:rPr>
              <a:t>Segurança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240280"/>
            <a:ext cx="5806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3247"/>
                </a:solidFill>
                <a:latin typeface="Arial"/>
              </a:rPr>
              <a:t>Retirar credenciais do código e usar hash/variáveis de ambiente.</a:t>
            </a:r>
          </a:p>
        </p:txBody>
      </p:sp>
      <p:sp>
        <p:nvSpPr>
          <p:cNvPr id="10" name="Oval 9"/>
          <p:cNvSpPr/>
          <p:nvPr/>
        </p:nvSpPr>
        <p:spPr>
          <a:xfrm>
            <a:off x="758952" y="2843784"/>
            <a:ext cx="109728" cy="109728"/>
          </a:xfrm>
          <a:prstGeom prst="ellipse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277063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02F47"/>
                </a:solidFill>
                <a:latin typeface="Arial"/>
              </a:rPr>
              <a:t>Validação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770632"/>
            <a:ext cx="5806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3247"/>
                </a:solidFill>
                <a:latin typeface="Arial"/>
              </a:rPr>
              <a:t>Impedir ID, quantidade e preço negativos; exigir nome não vazio.</a:t>
            </a:r>
          </a:p>
        </p:txBody>
      </p:sp>
      <p:sp>
        <p:nvSpPr>
          <p:cNvPr id="13" name="Oval 12"/>
          <p:cNvSpPr/>
          <p:nvPr/>
        </p:nvSpPr>
        <p:spPr>
          <a:xfrm>
            <a:off x="758952" y="3374136"/>
            <a:ext cx="109728" cy="109728"/>
          </a:xfrm>
          <a:prstGeom prst="ellipse">
            <a:avLst/>
          </a:prstGeom>
          <a:solidFill>
            <a:srgbClr val="137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3300984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02F47"/>
                </a:solidFill>
                <a:latin typeface="Arial"/>
              </a:rPr>
              <a:t>Coesão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300984"/>
            <a:ext cx="5806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3247"/>
                </a:solidFill>
                <a:latin typeface="Arial"/>
              </a:rPr>
              <a:t>Transformar operações do service em métodos da classe ou remover a classe não usada.</a:t>
            </a:r>
          </a:p>
        </p:txBody>
      </p:sp>
      <p:sp>
        <p:nvSpPr>
          <p:cNvPr id="16" name="Oval 15"/>
          <p:cNvSpPr/>
          <p:nvPr/>
        </p:nvSpPr>
        <p:spPr>
          <a:xfrm>
            <a:off x="758952" y="3904488"/>
            <a:ext cx="109728" cy="109728"/>
          </a:xfrm>
          <a:prstGeom prst="ellipse">
            <a:avLst/>
          </a:prstGeom>
          <a:solidFill>
            <a:srgbClr val="137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3831336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02F47"/>
                </a:solidFill>
                <a:latin typeface="Arial"/>
              </a:rPr>
              <a:t>Confiabilidade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831336"/>
            <a:ext cx="5806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3247"/>
                </a:solidFill>
                <a:latin typeface="Arial"/>
              </a:rPr>
              <a:t>Tratar CSV inválido e usar escrita temporária/atômica.</a:t>
            </a:r>
          </a:p>
        </p:txBody>
      </p:sp>
      <p:sp>
        <p:nvSpPr>
          <p:cNvPr id="19" name="Oval 18"/>
          <p:cNvSpPr/>
          <p:nvPr/>
        </p:nvSpPr>
        <p:spPr>
          <a:xfrm>
            <a:off x="758952" y="4434840"/>
            <a:ext cx="109728" cy="109728"/>
          </a:xfrm>
          <a:prstGeom prst="ellipse">
            <a:avLst/>
          </a:prstGeom>
          <a:solidFill>
            <a:srgbClr val="137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436168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02F47"/>
                </a:solidFill>
                <a:latin typeface="Arial"/>
              </a:rPr>
              <a:t>Testes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361688"/>
            <a:ext cx="5806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3247"/>
                </a:solidFill>
                <a:latin typeface="Arial"/>
              </a:rPr>
              <a:t>Cobrir login, categoria, CRUD e conversões do repository.</a:t>
            </a:r>
          </a:p>
        </p:txBody>
      </p:sp>
      <p:sp>
        <p:nvSpPr>
          <p:cNvPr id="22" name="Oval 21"/>
          <p:cNvSpPr/>
          <p:nvPr/>
        </p:nvSpPr>
        <p:spPr>
          <a:xfrm>
            <a:off x="758952" y="4965192"/>
            <a:ext cx="109728" cy="109728"/>
          </a:xfrm>
          <a:prstGeom prst="ellipse">
            <a:avLst/>
          </a:prstGeom>
          <a:solidFill>
            <a:srgbClr val="137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" y="48920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02F47"/>
                </a:solidFill>
                <a:latin typeface="Arial"/>
              </a:rPr>
              <a:t>Caminho do arquivo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92040"/>
            <a:ext cx="5806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3247"/>
                </a:solidFill>
                <a:latin typeface="Arial"/>
              </a:rPr>
              <a:t>Resolver o CSV relativo à raiz do projeto, não ao diretório atual.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99248" y="4709160"/>
            <a:ext cx="2834640" cy="1161288"/>
          </a:xfrm>
          <a:prstGeom prst="roundRect">
            <a:avLst>
              <a:gd name="adj" fmla="val 8000"/>
            </a:avLst>
          </a:prstGeom>
          <a:solidFill>
            <a:srgbClr val="DD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09560" y="4983480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F47"/>
                </a:solidFill>
                <a:latin typeface="Arial"/>
              </a:rPr>
              <a:t>Mensagem final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5321808"/>
            <a:ext cx="24231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F95A5"/>
                </a:solidFill>
                <a:latin typeface="Arial"/>
              </a:rPr>
              <a:t>A arquitetura já separa as decisões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F95A5"/>
                </a:solidFill>
                <a:latin typeface="Arial"/>
              </a:rPr>
              <a:t>principais; a próxima etapa 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F95A5"/>
                </a:solidFill>
                <a:latin typeface="Arial"/>
              </a:rPr>
              <a:t>fortalecer as bordas.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1481328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Obrigado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6596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5CAD4"/>
                </a:solidFill>
                <a:latin typeface="Arial"/>
              </a:rPr>
              <a:t>Sistema de Gestão de Produtos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961888"/>
            <a:ext cx="52120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5CAD4"/>
                </a:solidFill>
                <a:latin typeface="Arial"/>
              </a:rPr>
              <a:t>Código-fonte: main.py  •  Execução: python main.py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1128</Words>
  <Application>Microsoft Macintosh PowerPoint</Application>
  <PresentationFormat>Widescreen</PresentationFormat>
  <Paragraphs>220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365 Copilot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Gestao de Produtos</dc:title>
  <dc:subject>Sistema de Gestao de Produtos</dc:subject>
  <dc:creator>Nascimento, Carla</dc:creator>
  <cp:lastModifiedBy>Nascimento, Carla</cp:lastModifiedBy>
  <cp:revision>2</cp:revision>
  <dcterms:created xsi:type="dcterms:W3CDTF">2026-09-17T14:41:57Z</dcterms:created>
  <dcterms:modified xsi:type="dcterms:W3CDTF">2026-09-17T16:44:08Z</dcterms:modified>
</cp:coreProperties>
</file>